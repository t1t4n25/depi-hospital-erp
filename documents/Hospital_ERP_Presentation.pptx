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4921CC-07E0-0A9D-82BC-FB506E5478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8DDDA3-004B-68B1-D444-F038C623FA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07A288-0B9D-519B-9BCD-39AC1DBEA3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1954F8-2F0A-3623-F5B3-F1FCB602A0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B34174-787C-AEED-C989-BC129A74B9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7BB40-AB6D-C8A9-95F5-6EB3492B0E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922250-A8C1-B889-96B6-2889BEDB5F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5584D-5CDD-3CA5-5AA0-62A850F96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97A48-7401-8E53-A66E-DDF6CE1435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92C336-4646-BB96-4BED-6BE85FF8C6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46402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5529856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927687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pic>
        <p:nvPicPr>
          <p:cNvPr id="1861033537" name="Picture Placeholder 18"/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sp>
        <p:nvSpPr>
          <p:cNvPr id="1713906876" name="Subtitle 2"/>
          <p:cNvSpPr>
            <a:spLocks noGrp="1"/>
          </p:cNvSpPr>
          <p:nvPr>
            <p:ph type="subTitle" idx="1"/>
          </p:nvPr>
        </p:nvSpPr>
        <p:spPr bwMode="auto">
          <a:xfrm>
            <a:off x="2771799" y="4077073"/>
            <a:ext cx="3744415" cy="936103"/>
          </a:xfrm>
          <a:prstGeom prst="rect">
            <a:avLst/>
          </a:prstGeom>
        </p:spPr>
        <p:txBody>
          <a:bodyPr tIns="0" anchor="t">
            <a:noAutofit/>
          </a:bodyPr>
          <a:lstStyle>
            <a:lvl1pPr marL="0" indent="0" algn="ctr">
              <a:buNone/>
              <a:defRPr sz="2000" b="0" i="0" cap="none" spc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grpSp>
        <p:nvGrpSpPr>
          <p:cNvPr id="1307621410" name="Group 11"/>
          <p:cNvGrpSpPr/>
          <p:nvPr userDrawn="1"/>
        </p:nvGrpSpPr>
        <p:grpSpPr bwMode="auto">
          <a:xfrm>
            <a:off x="2411760" y="3786979"/>
            <a:ext cx="4320478" cy="158406"/>
            <a:chOff x="971599" y="3129578"/>
            <a:chExt cx="6007190" cy="326894"/>
          </a:xfrm>
          <a:solidFill>
            <a:srgbClr val="835A2D"/>
          </a:solidFill>
        </p:grpSpPr>
        <p:sp>
          <p:nvSpPr>
            <p:cNvPr id="5" name="Polyline 4"/>
            <p:cNvSpPr/>
            <p:nvPr userDrawn="1"/>
          </p:nvSpPr>
          <p:spPr bwMode="auto">
            <a:xfrm>
              <a:off x="971599" y="3205633"/>
              <a:ext cx="2826361" cy="87393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10" name="Polyline 9"/>
            <p:cNvSpPr/>
            <p:nvPr userDrawn="1"/>
          </p:nvSpPr>
          <p:spPr bwMode="auto">
            <a:xfrm flipV="1">
              <a:off x="971599" y="3290350"/>
              <a:ext cx="2826361" cy="87394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8" name="Овал 7"/>
            <p:cNvSpPr/>
            <p:nvPr userDrawn="1"/>
          </p:nvSpPr>
          <p:spPr bwMode="auto">
            <a:xfrm>
              <a:off x="3742380" y="3209049"/>
              <a:ext cx="125965" cy="167954"/>
            </a:xfrm>
            <a:prstGeom prst="ellipse">
              <a:avLst/>
            </a:prstGeom>
            <a:grpFill/>
            <a:ln>
              <a:noFill/>
            </a:ln>
          </p:spPr>
        </p:sp>
        <p:sp>
          <p:nvSpPr>
            <p:cNvPr id="14" name="Овал 13"/>
            <p:cNvSpPr/>
            <p:nvPr userDrawn="1"/>
          </p:nvSpPr>
          <p:spPr bwMode="auto">
            <a:xfrm>
              <a:off x="3877731" y="3129578"/>
              <a:ext cx="245170" cy="326894"/>
            </a:xfrm>
            <a:prstGeom prst="ellipse">
              <a:avLst/>
            </a:prstGeom>
            <a:grpFill/>
            <a:ln>
              <a:noFill/>
            </a:ln>
          </p:spPr>
        </p:sp>
        <p:grpSp>
          <p:nvGrpSpPr>
            <p:cNvPr id="11" name="Group 10"/>
            <p:cNvGrpSpPr/>
            <p:nvPr userDrawn="1"/>
          </p:nvGrpSpPr>
          <p:grpSpPr bwMode="auto">
            <a:xfrm flipH="1">
              <a:off x="4122902" y="3204294"/>
              <a:ext cx="2855887" cy="172111"/>
              <a:chOff x="1123999" y="3408833"/>
              <a:chExt cx="2896746" cy="172111"/>
            </a:xfrm>
            <a:grpFill/>
          </p:grpSpPr>
          <p:sp>
            <p:nvSpPr>
              <p:cNvPr id="15" name="Polyline 14"/>
              <p:cNvSpPr/>
              <p:nvPr userDrawn="1"/>
            </p:nvSpPr>
            <p:spPr bwMode="auto">
              <a:xfrm>
                <a:off x="1123999" y="3408833"/>
                <a:ext cx="2826361" cy="87393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Polyline 16"/>
              <p:cNvSpPr/>
              <p:nvPr userDrawn="1"/>
            </p:nvSpPr>
            <p:spPr bwMode="auto">
              <a:xfrm flipV="1">
                <a:off x="1123999" y="3493550"/>
                <a:ext cx="2826361" cy="87394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Овал 17"/>
              <p:cNvSpPr/>
              <p:nvPr userDrawn="1"/>
            </p:nvSpPr>
            <p:spPr bwMode="auto">
              <a:xfrm>
                <a:off x="3894780" y="3412249"/>
                <a:ext cx="125965" cy="167954"/>
              </a:xfrm>
              <a:prstGeom prst="ellipse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764080090" name="Title 12"/>
          <p:cNvSpPr>
            <a:spLocks noGrp="1"/>
          </p:cNvSpPr>
          <p:nvPr>
            <p:ph type="title"/>
          </p:nvPr>
        </p:nvSpPr>
        <p:spPr bwMode="auto">
          <a:xfrm>
            <a:off x="1565730" y="2608326"/>
            <a:ext cx="6048671" cy="803507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06455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44233127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990780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303672178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2608365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1600201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2843132" name="Picture Placeholder 18"/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sp>
        <p:nvSpPr>
          <p:cNvPr id="161627392" name="Title 1"/>
          <p:cNvSpPr>
            <a:spLocks noGrp="1"/>
          </p:cNvSpPr>
          <p:nvPr>
            <p:ph type="title"/>
          </p:nvPr>
        </p:nvSpPr>
        <p:spPr bwMode="auto">
          <a:xfrm>
            <a:off x="685800" y="836713"/>
            <a:ext cx="7772400" cy="100811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3195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060847"/>
            <a:ext cx="7772400" cy="3816425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rgbClr val="603636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058026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5029328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6551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</p:spPr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6560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5970252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471670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600201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417679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534006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1365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1766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788393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21771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661640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009780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342081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6555342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2840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049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894079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27447985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943680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9953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654169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348939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46464" name="Title 1"/>
          <p:cNvSpPr>
            <a:spLocks noGrp="1"/>
          </p:cNvSpPr>
          <p:nvPr>
            <p:ph type="title"/>
          </p:nvPr>
        </p:nvSpPr>
        <p:spPr bwMode="auto">
          <a:xfrm>
            <a:off x="467544" y="155679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13194028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1916833"/>
            <a:ext cx="5111749" cy="42093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256885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752533"/>
            <a:ext cx="3008313" cy="33736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9699783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01397518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559469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288511" name="Title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72616"/>
          </a:xfrm>
        </p:spPr>
        <p:txBody>
          <a:bodyPr anchor="b"/>
          <a:lstStyle>
            <a:lvl1pPr algn="ctr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86877911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36354685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465500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20530480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852209" y="1797125"/>
            <a:ext cx="5439582" cy="3000026"/>
          </a:xfrm>
          <a:prstGeom prst="rect">
            <a:avLst/>
          </a:prstGeom>
          <a:blipFill>
            <a:blip r:embed="rId2"/>
            <a:tile algn="tl" flip="none" sx="100000" sy="100000" tx="0" ty="0"/>
          </a:blipFill>
          <a:ln w="47625" cmpd="sng">
            <a:noFill/>
            <a:prstDash val="sysDot"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>
              <a:spcBef>
                <a:spcPts val="399"/>
              </a:spcBef>
              <a:buNone/>
              <a:defRPr sz="1800" b="0" cap="none" spc="0">
                <a:solidFill>
                  <a:schemeClr val="bg1"/>
                </a:solidFill>
                <a:latin typeface="+mj-lt"/>
                <a:ea typeface="+mj-ea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952917806" name="Text Placeholder 24"/>
          <p:cNvSpPr>
            <a:spLocks noGrp="1"/>
          </p:cNvSpPr>
          <p:nvPr>
            <p:ph type="body" sz="quarter" idx="13"/>
          </p:nvPr>
        </p:nvSpPr>
        <p:spPr bwMode="auto">
          <a:xfrm>
            <a:off x="1737360" y="5445223"/>
            <a:ext cx="5669279" cy="648072"/>
          </a:xfrm>
          <a:prstGeom prst="rect">
            <a:avLst/>
          </a:prstGeo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i="0" cap="none" spc="29">
                <a:solidFill>
                  <a:srgbClr val="603636"/>
                </a:solidFill>
                <a:latin typeface="+mn-lt"/>
                <a:ea typeface="+mn-ea"/>
                <a:cs typeface="Arial"/>
              </a:defRPr>
            </a:lvl1pPr>
            <a:lvl2pPr marL="171450" indent="1587">
              <a:buNone/>
              <a:defRPr>
                <a:solidFill>
                  <a:schemeClr val="bg2"/>
                </a:solidFill>
              </a:defRPr>
            </a:lvl2pPr>
            <a:lvl3pPr marL="344487" indent="6349">
              <a:buNone/>
              <a:defRPr>
                <a:solidFill>
                  <a:schemeClr val="bg2"/>
                </a:solidFill>
              </a:defRPr>
            </a:lvl3pPr>
            <a:lvl4pPr marL="515937" indent="3174">
              <a:buNone/>
              <a:defRPr>
                <a:solidFill>
                  <a:schemeClr val="bg2"/>
                </a:solidFill>
              </a:defRPr>
            </a:lvl4pPr>
            <a:lvl5pPr marL="688974" indent="-1587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/>
            </a:pPr>
            <a:r>
              <a:rPr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507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335137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029469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77081611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857345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65433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271422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7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580587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9162413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282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jpg"/><Relationship Id="rId14" Type="http://schemas.openxmlformats.org/officeDocument/2006/relationships/image" Target="../media/image3.png"/><Relationship Id="rId1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549228" name="Picture Placeholder 25"/>
          <p:cNvPicPr>
            <a:picLocks noChangeAspect="1"/>
          </p:cNvPicPr>
          <p:nvPr/>
        </p:nvPicPr>
        <p:blipFill rotWithShape="1">
          <a:blip r:embed="rId14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pic>
        <p:nvPicPr>
          <p:cNvPr id="1970281199" name="Picture Placeholder 26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-108519" y="-24174"/>
            <a:ext cx="9361039" cy="1538631"/>
          </a:xfrm>
          <a:prstGeom prst="rect">
            <a:avLst/>
          </a:prstGeom>
        </p:spPr>
      </p:pic>
      <p:grpSp>
        <p:nvGrpSpPr>
          <p:cNvPr id="1438000082" name="Group 76"/>
          <p:cNvGrpSpPr/>
          <p:nvPr/>
        </p:nvGrpSpPr>
        <p:grpSpPr bwMode="auto">
          <a:xfrm>
            <a:off x="3148506" y="1074073"/>
            <a:ext cx="2846986" cy="122679"/>
            <a:chOff x="971599" y="3129578"/>
            <a:chExt cx="6007190" cy="326894"/>
          </a:xfrm>
          <a:solidFill>
            <a:srgbClr val="835A2D"/>
          </a:solidFill>
        </p:grpSpPr>
        <p:sp>
          <p:nvSpPr>
            <p:cNvPr id="78" name="Polyline 77"/>
            <p:cNvSpPr/>
            <p:nvPr userDrawn="1"/>
          </p:nvSpPr>
          <p:spPr bwMode="auto">
            <a:xfrm>
              <a:off x="971599" y="3205633"/>
              <a:ext cx="2826361" cy="87393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79" name="Polyline 78"/>
            <p:cNvSpPr/>
            <p:nvPr userDrawn="1"/>
          </p:nvSpPr>
          <p:spPr bwMode="auto">
            <a:xfrm flipV="1">
              <a:off x="971599" y="3290350"/>
              <a:ext cx="2826361" cy="87394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80" name="Овал 79"/>
            <p:cNvSpPr/>
            <p:nvPr userDrawn="1"/>
          </p:nvSpPr>
          <p:spPr bwMode="auto">
            <a:xfrm>
              <a:off x="3742380" y="3209049"/>
              <a:ext cx="125965" cy="167954"/>
            </a:xfrm>
            <a:prstGeom prst="ellipse">
              <a:avLst/>
            </a:prstGeom>
            <a:grpFill/>
            <a:ln>
              <a:noFill/>
            </a:ln>
          </p:spPr>
        </p:sp>
        <p:sp>
          <p:nvSpPr>
            <p:cNvPr id="81" name="Овал 80"/>
            <p:cNvSpPr/>
            <p:nvPr userDrawn="1"/>
          </p:nvSpPr>
          <p:spPr bwMode="auto">
            <a:xfrm>
              <a:off x="3877731" y="3129578"/>
              <a:ext cx="245170" cy="326894"/>
            </a:xfrm>
            <a:prstGeom prst="ellipse">
              <a:avLst/>
            </a:prstGeom>
            <a:grpFill/>
            <a:ln>
              <a:noFill/>
            </a:ln>
          </p:spPr>
        </p:sp>
        <p:grpSp>
          <p:nvGrpSpPr>
            <p:cNvPr id="82" name="Group 81"/>
            <p:cNvGrpSpPr/>
            <p:nvPr userDrawn="1"/>
          </p:nvGrpSpPr>
          <p:grpSpPr bwMode="auto">
            <a:xfrm flipH="1">
              <a:off x="4122902" y="3204294"/>
              <a:ext cx="2855887" cy="172111"/>
              <a:chOff x="1123999" y="3408833"/>
              <a:chExt cx="2896746" cy="172111"/>
            </a:xfrm>
            <a:grpFill/>
          </p:grpSpPr>
          <p:sp>
            <p:nvSpPr>
              <p:cNvPr id="83" name="Polyline 82"/>
              <p:cNvSpPr/>
              <p:nvPr userDrawn="1"/>
            </p:nvSpPr>
            <p:spPr bwMode="auto">
              <a:xfrm>
                <a:off x="1123999" y="3408833"/>
                <a:ext cx="2826361" cy="87393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84" name="Polyline 83"/>
              <p:cNvSpPr/>
              <p:nvPr userDrawn="1"/>
            </p:nvSpPr>
            <p:spPr bwMode="auto">
              <a:xfrm flipV="1">
                <a:off x="1123999" y="3493550"/>
                <a:ext cx="2826361" cy="87394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85" name="Овал 84"/>
              <p:cNvSpPr/>
              <p:nvPr userDrawn="1"/>
            </p:nvSpPr>
            <p:spPr bwMode="auto">
              <a:xfrm>
                <a:off x="3894780" y="3412249"/>
                <a:ext cx="125965" cy="167954"/>
              </a:xfrm>
              <a:prstGeom prst="ellipse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868926229" name="Title 2"/>
          <p:cNvSpPr>
            <a:spLocks noGrp="1"/>
          </p:cNvSpPr>
          <p:nvPr>
            <p:ph type="title"/>
          </p:nvPr>
        </p:nvSpPr>
        <p:spPr bwMode="auto">
          <a:xfrm>
            <a:off x="1547663" y="274638"/>
            <a:ext cx="6048671" cy="803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113692823" name="Text Placeholder 4"/>
          <p:cNvSpPr>
            <a:spLocks noGrp="1"/>
          </p:cNvSpPr>
          <p:nvPr>
            <p:ph type="body" idx="1"/>
          </p:nvPr>
        </p:nvSpPr>
        <p:spPr bwMode="auto">
          <a:xfrm>
            <a:off x="683568" y="1772815"/>
            <a:ext cx="7776864" cy="43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5874444" name="Date Placeholder 4"/>
          <p:cNvSpPr>
            <a:spLocks noGrp="1"/>
          </p:cNvSpPr>
          <p:nvPr>
            <p:ph type="dt" sz="half" idx="2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19486505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447043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399"/>
        </a:spcBef>
        <a:buNone/>
        <a:defRPr sz="3200" b="1" cap="none" spc="0">
          <a:solidFill>
            <a:schemeClr val="accent2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55599" indent="-355599" algn="l" defTabSz="914400" rtl="0">
        <a:lnSpc>
          <a:spcPct val="100000"/>
        </a:lnSpc>
        <a:spcBef>
          <a:spcPts val="599"/>
        </a:spcBef>
        <a:spcAft>
          <a:spcPts val="0"/>
        </a:spcAft>
        <a:buClr>
          <a:schemeClr val="accent1"/>
        </a:buClr>
        <a:buFont typeface="Wingdings"/>
        <a:buChar char="v"/>
        <a:defRPr sz="2800" b="0" i="0" cap="none" spc="29">
          <a:solidFill>
            <a:srgbClr val="603636"/>
          </a:solidFill>
          <a:latin typeface="+mn-lt"/>
          <a:ea typeface="+mn-ea"/>
          <a:cs typeface="Arial"/>
        </a:defRPr>
      </a:lvl1pPr>
      <a:lvl2pPr marL="903287" indent="-355599" algn="l" defTabSz="914400" rtl="0">
        <a:lnSpc>
          <a:spcPct val="100000"/>
        </a:lnSpc>
        <a:spcBef>
          <a:spcPts val="1199"/>
        </a:spcBef>
        <a:buClr>
          <a:schemeClr val="accent1"/>
        </a:buClr>
        <a:buFont typeface="Courier New"/>
        <a:buChar char="o"/>
        <a:defRPr sz="2400">
          <a:solidFill>
            <a:srgbClr val="835A2D"/>
          </a:solidFill>
          <a:latin typeface="+mn-lt"/>
          <a:ea typeface="+mn-ea"/>
          <a:cs typeface="Arial"/>
        </a:defRPr>
      </a:lvl2pPr>
      <a:lvl3pPr marL="1258887" indent="-355599" algn="l" defTabSz="914400" rtl="0">
        <a:lnSpc>
          <a:spcPct val="100000"/>
        </a:lnSpc>
        <a:spcBef>
          <a:spcPts val="1199"/>
        </a:spcBef>
        <a:buClr>
          <a:schemeClr val="accent1"/>
        </a:buClr>
        <a:buFont typeface="Wingdings"/>
        <a:buChar char="v"/>
        <a:defRPr sz="2000">
          <a:solidFill>
            <a:srgbClr val="603636"/>
          </a:solidFill>
          <a:latin typeface="+mn-lt"/>
          <a:ea typeface="+mn-ea"/>
          <a:cs typeface="Arial"/>
        </a:defRPr>
      </a:lvl3pPr>
      <a:lvl4pPr marL="1614487" indent="-355599" algn="l" defTabSz="914400" rtl="0">
        <a:lnSpc>
          <a:spcPct val="100000"/>
        </a:lnSpc>
        <a:spcBef>
          <a:spcPts val="1199"/>
        </a:spcBef>
        <a:buClr>
          <a:schemeClr val="accent1"/>
        </a:buClr>
        <a:buFont typeface="Courier New"/>
        <a:buChar char="o"/>
        <a:defRPr sz="1800">
          <a:solidFill>
            <a:srgbClr val="835A2D"/>
          </a:solidFill>
          <a:latin typeface="+mn-lt"/>
          <a:ea typeface="+mn-ea"/>
          <a:cs typeface="Arial"/>
        </a:defRPr>
      </a:lvl4pPr>
      <a:lvl5pPr marL="2149474" indent="-355599" algn="l" defTabSz="914400" rtl="0">
        <a:lnSpc>
          <a:spcPct val="100000"/>
        </a:lnSpc>
        <a:spcBef>
          <a:spcPts val="1199"/>
        </a:spcBef>
        <a:buClr>
          <a:schemeClr val="accent1"/>
        </a:buClr>
        <a:buFont typeface="Wingdings"/>
        <a:buChar char="Ø"/>
        <a:defRPr sz="1800">
          <a:solidFill>
            <a:srgbClr val="603636"/>
          </a:solidFill>
          <a:latin typeface="+mn-lt"/>
          <a:ea typeface="+mn-ea"/>
          <a:cs typeface="Arial"/>
        </a:defRPr>
      </a:lvl5pPr>
      <a:lvl6pPr marL="0" indent="0" algn="ctr" defTabSz="914400" rtl="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00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Hospital ERP System</a:t>
            </a:r>
            <a:endParaRPr/>
          </a:p>
        </p:txBody>
      </p:sp>
      <p:sp>
        <p:nvSpPr>
          <p:cNvPr id="14821318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Modern Enterprise Resource Planning Solution for Healthcare Facilities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Comprehensive Hospital Management Platform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4924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The Challenge We Identified</a:t>
            </a:r>
            <a:endParaRPr/>
          </a:p>
        </p:txBody>
      </p:sp>
      <p:sp>
        <p:nvSpPr>
          <p:cNvPr id="18659207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600201"/>
            <a:ext cx="8229600" cy="46973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/>
              <a:t>- Fragmented Record-Keeping</a:t>
            </a:r>
            <a:endParaRPr/>
          </a:p>
          <a:p>
            <a:pPr>
              <a:defRPr/>
            </a:pPr>
            <a:r>
              <a:rPr/>
              <a:t>- Manual Appointment Scheduling</a:t>
            </a:r>
            <a:endParaRPr/>
          </a:p>
          <a:p>
            <a:pPr>
              <a:defRPr/>
            </a:pPr>
            <a:r>
              <a:rPr/>
              <a:t>- Billing &amp; Payment Errors</a:t>
            </a:r>
            <a:endParaRPr/>
          </a:p>
          <a:p>
            <a:pPr>
              <a:defRPr/>
            </a:pPr>
            <a:r>
              <a:rPr/>
              <a:t>- Limited Visibility</a:t>
            </a:r>
            <a:endParaRPr/>
          </a:p>
          <a:p>
            <a:pPr>
              <a:defRPr/>
            </a:pPr>
            <a:r>
              <a:rPr/>
              <a:t>- Weak Inventory Control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Impact:</a:t>
            </a:r>
            <a:endParaRPr/>
          </a:p>
          <a:p>
            <a:pPr>
              <a:defRPr/>
            </a:pPr>
            <a:r>
              <a:rPr/>
              <a:t>- Increased operational costs</a:t>
            </a:r>
            <a:endParaRPr/>
          </a:p>
          <a:p>
            <a:pPr>
              <a:defRPr/>
            </a:pPr>
            <a:r>
              <a:rPr/>
              <a:t>- Reduced patient satisfaction</a:t>
            </a:r>
            <a:endParaRPr/>
          </a:p>
          <a:p>
            <a:pPr>
              <a:defRPr/>
            </a:pPr>
            <a:r>
              <a:rPr/>
              <a:t>- Compliance risks</a:t>
            </a:r>
            <a:endParaRPr/>
          </a:p>
          <a:p>
            <a:pPr>
              <a:defRPr/>
            </a:pPr>
            <a:r>
              <a:rPr/>
              <a:t>- Staff frustration</a:t>
            </a:r>
            <a:endParaRPr/>
          </a:p>
          <a:p>
            <a:pPr>
              <a:defRPr/>
            </a:pPr>
            <a:r>
              <a:rPr/>
              <a:t>- Financial losses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29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Our Solution &amp; Competitive Advantages</a:t>
            </a:r>
            <a:endParaRPr/>
          </a:p>
        </p:txBody>
      </p:sp>
      <p:sp>
        <p:nvSpPr>
          <p:cNvPr id="155296279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600201"/>
            <a:ext cx="8229600" cy="463266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/>
              <a:t>Centralized Operations, intelligent automation, data integrity.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Performance Advantages:</a:t>
            </a:r>
            <a:endParaRPr/>
          </a:p>
          <a:p>
            <a:pPr>
              <a:defRPr/>
            </a:pPr>
            <a:r>
              <a:rPr/>
              <a:t>- Vertical Slice Architecture + CQRS</a:t>
            </a:r>
            <a:endParaRPr/>
          </a:p>
          <a:p>
            <a:pPr>
              <a:defRPr/>
            </a:pPr>
            <a:r>
              <a:rPr/>
              <a:t>- Scalable, Docker-ready</a:t>
            </a:r>
            <a:endParaRPr/>
          </a:p>
          <a:p>
            <a:pPr>
              <a:defRPr/>
            </a:pPr>
            <a:r>
              <a:rPr/>
              <a:t>- Keycloak security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Key Differentiators:</a:t>
            </a:r>
            <a:endParaRPr/>
          </a:p>
          <a:p>
            <a:pPr>
              <a:defRPr/>
            </a:pPr>
            <a:r>
              <a:rPr/>
              <a:t>Architecture: Vertical Slices + CQRS</a:t>
            </a:r>
            <a:endParaRPr/>
          </a:p>
          <a:p>
            <a:pPr>
              <a:defRPr/>
            </a:pPr>
            <a:r>
              <a:rPr/>
              <a:t>Performance: Optimized queries</a:t>
            </a:r>
            <a:endParaRPr/>
          </a:p>
          <a:p>
            <a:pPr>
              <a:defRPr/>
            </a:pPr>
            <a:r>
              <a:rPr/>
              <a:t>Security: Enterprise SSO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3796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Development Team</a:t>
            </a:r>
            <a:endParaRPr/>
          </a:p>
        </p:txBody>
      </p:sp>
      <p:sp>
        <p:nvSpPr>
          <p:cNvPr id="174949033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/>
              <a:t>Zeyad Hemeda – Backend Engineer</a:t>
            </a:r>
            <a:endParaRPr/>
          </a:p>
          <a:p>
            <a:pPr lvl="1">
              <a:defRPr/>
            </a:pPr>
            <a:r>
              <a:rPr/>
              <a:t>System Design, architecture, &amp; implementation</a:t>
            </a:r>
            <a:endParaRPr/>
          </a:p>
          <a:p>
            <a:pPr>
              <a:defRPr/>
            </a:pPr>
            <a:r>
              <a:rPr/>
              <a:t>Ahmed Salem – </a:t>
            </a:r>
            <a:r>
              <a:rPr lang="en-US"/>
              <a:t>Frontend Engineer</a:t>
            </a:r>
            <a:endParaRPr lang="en-US"/>
          </a:p>
          <a:p>
            <a:pPr lvl="1">
              <a:defRPr/>
            </a:pPr>
            <a:r>
              <a:rPr lang="en-US"/>
              <a:t>UI Design, Integration, &amp; Implementation</a:t>
            </a:r>
            <a:endParaRPr/>
          </a:p>
          <a:p>
            <a:pPr>
              <a:defRPr/>
            </a:pPr>
            <a:r>
              <a:rPr/>
              <a:t>Ahmed Gamal – Backend Engineer</a:t>
            </a:r>
            <a:endParaRPr/>
          </a:p>
          <a:p>
            <a:pPr lvl="1">
              <a:defRPr/>
            </a:pPr>
            <a:r>
              <a:rPr/>
              <a:t>Database Design &amp; Code</a:t>
            </a:r>
            <a:endParaRPr/>
          </a:p>
          <a:p>
            <a:pPr>
              <a:defRPr/>
            </a:pPr>
            <a:r>
              <a:rPr/>
              <a:t>Taha Ashoush– Fullstack Engineer</a:t>
            </a:r>
            <a:endParaRPr/>
          </a:p>
          <a:p>
            <a:pPr lvl="1">
              <a:defRPr/>
            </a:pPr>
            <a:r>
              <a:rPr/>
              <a:t>backend Implementation </a:t>
            </a:r>
            <a:endParaRPr/>
          </a:p>
          <a:p>
            <a:pPr>
              <a:defRPr/>
            </a:pPr>
            <a:r>
              <a:rPr/>
              <a:t>Youssef Louis – Frontend Engineer</a:t>
            </a:r>
            <a:endParaRPr/>
          </a:p>
          <a:p>
            <a:pPr lvl="1">
              <a:defRPr/>
            </a:pPr>
            <a:r>
              <a:rPr/>
              <a:t>Front end Implementation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480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Technology Stack &amp; Tools</a:t>
            </a:r>
            <a:endParaRPr/>
          </a:p>
        </p:txBody>
      </p:sp>
      <p:sp>
        <p:nvSpPr>
          <p:cNvPr id="11919529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200" y="1600201"/>
            <a:ext cx="8229600" cy="4614167"/>
          </a:xfrm>
        </p:spPr>
        <p:txBody>
          <a:bodyPr/>
          <a:lstStyle/>
          <a:p>
            <a:pPr>
              <a:defRPr/>
            </a:pPr>
            <a:r>
              <a:rPr/>
              <a:t>Backend: .NET 9, EF Core, MediatR, AutoMapper, FluentValidation</a:t>
            </a:r>
            <a:endParaRPr/>
          </a:p>
          <a:p>
            <a:pPr>
              <a:defRPr/>
            </a:pPr>
            <a:r>
              <a:rPr/>
              <a:t>Frontend: Angular, TypeScript</a:t>
            </a:r>
            <a:endParaRPr/>
          </a:p>
          <a:p>
            <a:pPr>
              <a:defRPr/>
            </a:pPr>
            <a:r>
              <a:rPr/>
              <a:t>Database: Microsoft SQL Server</a:t>
            </a:r>
            <a:endParaRPr/>
          </a:p>
          <a:p>
            <a:pPr>
              <a:defRPr/>
            </a:pPr>
            <a:r>
              <a:rPr/>
              <a:t>Security: Keycloak</a:t>
            </a:r>
            <a:endParaRPr/>
          </a:p>
          <a:p>
            <a:pPr>
              <a:defRPr/>
            </a:pPr>
            <a:r>
              <a:rPr/>
              <a:t>DevOps: Docker, Docker Compose</a:t>
            </a:r>
            <a:endParaRPr/>
          </a:p>
          <a:p>
            <a:pPr>
              <a:defRPr/>
            </a:pPr>
            <a:r>
              <a:rPr/>
              <a:t>Tools: Swagger, Git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4593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Architecture &amp; Features</a:t>
            </a:r>
            <a:endParaRPr/>
          </a:p>
        </p:txBody>
      </p:sp>
      <p:sp>
        <p:nvSpPr>
          <p:cNvPr id="15360196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Vertical Slice Architecture, CQRS, Clean Code.</a:t>
            </a:r>
            <a:endParaRPr/>
          </a:p>
          <a:p>
            <a:pPr>
              <a:defRPr/>
            </a:pPr>
            <a:r>
              <a:rPr/>
              <a:t>Features:</a:t>
            </a:r>
            <a:endParaRPr/>
          </a:p>
          <a:p>
            <a:pPr lvl="1">
              <a:defRPr/>
            </a:pPr>
            <a:r>
              <a:rPr/>
              <a:t>- Patient Management</a:t>
            </a:r>
            <a:endParaRPr/>
          </a:p>
          <a:p>
            <a:pPr lvl="1">
              <a:defRPr/>
            </a:pPr>
            <a:r>
              <a:rPr/>
              <a:t>- Appointment Scheduling</a:t>
            </a:r>
            <a:endParaRPr/>
          </a:p>
          <a:p>
            <a:pPr lvl="1">
              <a:defRPr/>
            </a:pPr>
            <a:r>
              <a:rPr/>
              <a:t>- Medical Records</a:t>
            </a:r>
            <a:endParaRPr/>
          </a:p>
          <a:p>
            <a:pPr lvl="1">
              <a:defRPr/>
            </a:pPr>
            <a:r>
              <a:rPr/>
              <a:t>- Billing</a:t>
            </a:r>
            <a:endParaRPr/>
          </a:p>
          <a:p>
            <a:pPr lvl="1">
              <a:defRPr/>
            </a:pPr>
            <a:r>
              <a:rPr/>
              <a:t>- Inventory</a:t>
            </a:r>
            <a:endParaRPr/>
          </a:p>
          <a:p>
            <a:pPr lvl="1">
              <a:defRPr/>
            </a:pPr>
            <a:r>
              <a:rPr/>
              <a:t>- HR</a:t>
            </a:r>
            <a:endParaRPr/>
          </a:p>
          <a:p>
            <a:pPr lvl="1">
              <a:defRPr/>
            </a:pPr>
            <a:r>
              <a:rPr/>
              <a:t>- Dashboard &amp; Analytics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069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Security &amp; Performance Excellence</a:t>
            </a:r>
            <a:endParaRPr/>
          </a:p>
        </p:txBody>
      </p:sp>
      <p:sp>
        <p:nvSpPr>
          <p:cNvPr id="18579717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Keycloak SSO, RBAC, multi-layer validation.</a:t>
            </a:r>
            <a:endParaRPr/>
          </a:p>
          <a:p>
            <a:pPr>
              <a:defRPr/>
            </a:pPr>
            <a:r>
              <a:rPr/>
              <a:t>Data integrity via constraints.</a:t>
            </a:r>
            <a:endParaRPr/>
          </a:p>
          <a:p>
            <a:pPr>
              <a:defRPr/>
            </a:pPr>
            <a:r>
              <a:rPr/>
              <a:t>Optimized queries, ≤0.6s response time on most endpoints, &amp; </a:t>
            </a:r>
            <a:r>
              <a:rPr lang="en-US" sz="2800" b="0" i="0" u="none" strike="noStrike" cap="none" spc="29">
                <a:solidFill>
                  <a:srgbClr val="603636"/>
                </a:solidFill>
                <a:latin typeface="+mn-lt"/>
                <a:ea typeface="+mn-ea"/>
                <a:cs typeface="Arial"/>
              </a:rPr>
              <a:t>≤</a:t>
            </a:r>
            <a:r>
              <a:rPr/>
              <a:t> 1.5s on big queries (.eg dashboards).</a:t>
            </a:r>
            <a:endParaRPr/>
          </a:p>
          <a:p>
            <a:pPr>
              <a:defRPr/>
            </a:pPr>
            <a:r>
              <a:rPr/>
              <a:t>Scalable, 100+ concurrent users.</a:t>
            </a:r>
            <a:endParaRPr/>
          </a:p>
          <a:p>
            <a:pPr>
              <a:defRPr/>
            </a:pPr>
            <a:r>
              <a:rPr/>
              <a:t>Validation on all endpoints.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047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Developer Experience &amp; Deployment</a:t>
            </a:r>
            <a:endParaRPr/>
          </a:p>
        </p:txBody>
      </p:sp>
      <p:sp>
        <p:nvSpPr>
          <p:cNvPr id="126820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Clear code organization, documentation, testing.</a:t>
            </a:r>
            <a:endParaRPr/>
          </a:p>
          <a:p>
            <a:pPr>
              <a:defRPr/>
            </a:pPr>
            <a:r>
              <a:rPr/>
              <a:t>Docker deployment, CI/CD ready.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2965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System Highlights</a:t>
            </a:r>
            <a:endParaRPr/>
          </a:p>
        </p:txBody>
      </p:sp>
      <p:sp>
        <p:nvSpPr>
          <p:cNvPr id="547654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Architecture excellence, security, scalability.</a:t>
            </a:r>
            <a:endParaRPr/>
          </a:p>
          <a:p>
            <a:pPr>
              <a:defRPr/>
            </a:pPr>
            <a:r>
              <a:rPr/>
              <a:t>Comprehensive features.</a:t>
            </a:r>
            <a:endParaRPr/>
          </a:p>
          <a:p>
            <a:pPr>
              <a:defRPr/>
            </a:pPr>
            <a:r>
              <a:rPr/>
              <a:t>Developer friendly.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1125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Future Enhancements</a:t>
            </a:r>
            <a:endParaRPr/>
          </a:p>
        </p:txBody>
      </p:sp>
      <p:sp>
        <p:nvSpPr>
          <p:cNvPr id="17993029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Patient portal, reporting, mobile apps.</a:t>
            </a:r>
            <a:endParaRPr/>
          </a:p>
          <a:p>
            <a:pPr>
              <a:defRPr/>
            </a:pPr>
            <a:r>
              <a:rPr/>
              <a:t>Integrations, AI/ML</a:t>
            </a:r>
            <a:endParaRPr/>
          </a:p>
          <a:p>
            <a:pPr>
              <a:defRPr/>
            </a:pPr>
            <a:r>
              <a:rPr/>
              <a:t>performance improvements</a:t>
            </a:r>
            <a:r>
              <a:rPr/>
              <a:t>(Caching on all frequently read endpoints)</a:t>
            </a:r>
            <a:endParaRPr/>
          </a:p>
          <a:p>
            <a:pPr>
              <a:defRPr/>
            </a:pPr>
            <a:r>
              <a:rPr/>
              <a:t>UX improvements.</a:t>
            </a:r>
            <a:endParaRPr/>
          </a:p>
          <a:p>
            <a:pPr>
              <a:defRPr/>
            </a:pPr>
            <a:r>
              <a:rPr/>
              <a:t>Security(Rate Limiting</a:t>
            </a:r>
            <a:r>
              <a:rPr lang="ar-EG"/>
              <a:t> </a:t>
            </a:r>
            <a:r>
              <a:rPr/>
              <a:t>on all endpoints)</a:t>
            </a:r>
            <a:endParaRPr/>
          </a:p>
          <a:p>
            <a:pPr>
              <a:defRPr/>
            </a:pPr>
            <a:r>
              <a:rPr/>
              <a:t>More features for HR management (.eg Leave requests, payroll control)</a:t>
            </a:r>
            <a:endParaRPr/>
          </a:p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lassic">
  <a:themeElements>
    <a:clrScheme name="Classic">
      <a:dk1>
        <a:sysClr val="windowText" lastClr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2025-12-05T17:02:34Z</dcterms:modified>
  <cp:category/>
</cp:coreProperties>
</file>